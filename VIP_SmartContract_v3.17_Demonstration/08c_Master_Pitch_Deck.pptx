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4646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4646A"/>
                </a:solidFill>
                <a:latin typeface="Arial"/>
              </a:rPr>
              <a:t>Limited-VIP retention — synthetic resort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 retention (%)</c:v>
                </c:pt>
              </c:strCache>
            </c:strRef>
          </c:tx>
          <c:spPr>
            <a:solidFill>
              <a:srgbClr val="1E5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Hard-stop baseline</c:v>
                  </c:pt>
                  <c:pt idx="1">
                    <c:v>With incentive economics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TRENCH LOGIC STUDIO · MASTER PITCH DECK · v3.17 ·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SmartContract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middleware policy engine that turns the stop-loss into a hospitality event: pre-committed budgets, a stop that pays the player, preserved spend redirected to the resort — every decision hash-anchored, funds never on chain. Licensed annually, operated entirely by the buyer.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solidFill>
            <a:srgbClr val="122B33"/>
          </a:solidFill>
          <a:ln w="12700">
            <a:solidFill>
              <a:srgbClr val="7FB0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3931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CHAIN  GPG 9078 8B14 00C2 C2EC … EE0B B22B → SHA-256 → OpenTimestamps → Bitcoin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42245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D9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AS-IS · STRICTLY CONFIDENTIAL · NDA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property's biggest players carry its revenue and its entire regulatory exposure in the same accounts — and every limit on the floor today works as a wall the player resents and the host fights.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560320" cy="1965960"/>
          </a:xfrm>
          <a:prstGeom prst="roundRect">
            <a:avLst>
              <a:gd name="adj" fmla="val 186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GGR from the top 1% of players — and the whole RG scrutiny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04" y="2240280"/>
            <a:ext cx="2560320" cy="1965960"/>
          </a:xfrm>
          <a:prstGeom prst="roundRect">
            <a:avLst>
              <a:gd name="adj" fmla="val 186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11296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11296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stopped VIPs lost within the quarter when the limit is only a wall (synthetic baseline)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2240280"/>
            <a:ext cx="2560320" cy="1965960"/>
          </a:xfrm>
          <a:prstGeom prst="roundRect">
            <a:avLst>
              <a:gd name="adj" fmla="val 186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preserved budget captured when the player leaves with 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2 · v3.17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297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Pre-commitment: the budget is agreed with the host at noon, enforced by the engine at night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50% of the pre-committed budget the policy fires — engine-enforced, no midnight negotiation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stop pays: 20% of the preserved budget returns as a next-visit rollover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redirect books the evening: resort credits 30% · 25% · 15% of preserved budget to spa · F&amp;B · retail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hash-anchored as it happens — middleware, funds never on chain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12080" y="1554480"/>
            <a:ext cx="3291840" cy="685800"/>
          </a:xfrm>
          <a:prstGeom prst="roundRect">
            <a:avLst>
              <a:gd name="adj" fmla="val 5333"/>
            </a:avLst>
          </a:prstGeom>
          <a:solidFill>
            <a:srgbClr val="E9EEE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4924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— €3,000 agreed at noon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0" y="2240280"/>
            <a:ext cx="0" cy="365760"/>
          </a:xfrm>
          <a:prstGeom prst="line">
            <a:avLst/>
          </a:prstGeom>
          <a:noFill/>
          <a:ln w="19050">
            <a:solidFill>
              <a:srgbClr val="54646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212080" y="2606040"/>
            <a:ext cx="3291840" cy="868680"/>
          </a:xfrm>
          <a:prstGeom prst="roundRect">
            <a:avLst>
              <a:gd name="adj" fmla="val 4211"/>
            </a:avLst>
          </a:prstGeom>
          <a:solidFill>
            <a:srgbClr val="D8E2E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4924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STOP — 50% of the budget · gaming locked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0" y="3474720"/>
            <a:ext cx="0" cy="365760"/>
          </a:xfrm>
          <a:prstGeom prst="line">
            <a:avLst/>
          </a:prstGeom>
          <a:noFill/>
          <a:ln w="19050">
            <a:solidFill>
              <a:srgbClr val="54646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12080" y="3840480"/>
            <a:ext cx="3291840" cy="685800"/>
          </a:xfrm>
          <a:prstGeom prst="roundRect">
            <a:avLst>
              <a:gd name="adj" fmla="val 5333"/>
            </a:avLst>
          </a:prstGeom>
          <a:solidFill>
            <a:srgbClr val="E9EEE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49240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+ REDIRECT — €300 rollover · evening booked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3 · v3.17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enforcement is commodity. Paying the player to respect it is not.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 manage limits and non-gaming spend; platform stacks ship mandated limit tooling; detection vendors flag risk in real time. None of them attaches economics to the stop. The incentive layer between them is open — and the on-chain enforcement space next door is patented, which this asset avoids by documented design.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4 · v3.17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— synthetic reference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1234440"/>
            <a:ext cx="2971800" cy="896112"/>
          </a:xfrm>
          <a:prstGeom prst="roundRect">
            <a:avLst>
              <a:gd name="adj" fmla="val 4082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779008" y="13258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vs 61%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79008" y="17373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retention of limited VIPs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23560" y="2258568"/>
            <a:ext cx="2971800" cy="896112"/>
          </a:xfrm>
          <a:prstGeom prst="roundRect">
            <a:avLst>
              <a:gd name="adj" fmla="val 4082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779008" y="23500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€214,200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779008" y="27614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 budget redirected to the resort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3282696"/>
            <a:ext cx="2971800" cy="896112"/>
          </a:xfrm>
          <a:prstGeom prst="roundRect">
            <a:avLst>
              <a:gd name="adj" fmla="val 4082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779008" y="33741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38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779008" y="378561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hours on limit conflicts (baseline 100)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FIGURES SYNTHETIC BY DECLARATION · MODEL IN 05c · ENGINE IN 05b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5 · v3.17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modes, one engine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Hard-Stop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Advisory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3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464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TRIGGER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of the pre-committed budget · engine-enforced, no override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Nudge at 40% of the pre-committed budget · escalate at 85% of the same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464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locked at the stop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 carries the moment, script in hand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464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INCENTIVES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Rollover + redirect at stop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Identical mechanics on voluntary stops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464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Audit-first, regulated groups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Pilots, host-led VIP cultures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is the on-ramp, not a parallel product — the trade is stated in the spec.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6 · v3.17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in the transaction path, not the morning after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the player for stopping — the behavioural inversion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preserved spend into tonight's resort revenue — the stop fires at 50% of the pre-committed budget, the rollover is 20% of preserved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Anchors every decision for the audit — proofs, never funds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20840" y="2651760"/>
            <a:ext cx="0" cy="-1143000"/>
          </a:xfrm>
          <a:prstGeom prst="line">
            <a:avLst/>
          </a:prstGeom>
          <a:noFill/>
          <a:ln w="1587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0" y="1197864"/>
            <a:ext cx="1005840" cy="621792"/>
          </a:xfrm>
          <a:prstGeom prst="ellipse">
            <a:avLst/>
          </a:prstGeom>
          <a:solidFill>
            <a:srgbClr val="E8D7DC"/>
          </a:solidFill>
          <a:ln w="952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08192" y="13441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720840" y="2651760"/>
            <a:ext cx="1417320" cy="0"/>
          </a:xfrm>
          <a:prstGeom prst="line">
            <a:avLst/>
          </a:prstGeom>
          <a:noFill/>
          <a:ln w="1587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635240" y="2340864"/>
            <a:ext cx="1005840" cy="621792"/>
          </a:xfrm>
          <a:prstGeom prst="ellipse">
            <a:avLst/>
          </a:prstGeom>
          <a:solidFill>
            <a:srgbClr val="D6D3E6"/>
          </a:solidFill>
          <a:ln w="952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25512" y="24871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stop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20840" y="2651760"/>
            <a:ext cx="0" cy="1143000"/>
          </a:xfrm>
          <a:prstGeom prst="line">
            <a:avLst/>
          </a:prstGeom>
          <a:noFill/>
          <a:ln w="1587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3483864"/>
            <a:ext cx="1005840" cy="621792"/>
          </a:xfrm>
          <a:prstGeom prst="ellipse">
            <a:avLst/>
          </a:prstGeom>
          <a:solidFill>
            <a:srgbClr val="D6D3E6"/>
          </a:solidFill>
          <a:ln w="952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08192" y="36301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rollover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2651760"/>
            <a:ext cx="-1417320" cy="0"/>
          </a:xfrm>
          <a:prstGeom prst="line">
            <a:avLst/>
          </a:prstGeom>
          <a:noFill/>
          <a:ln w="1587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00600" y="2340864"/>
            <a:ext cx="1005840" cy="621792"/>
          </a:xfrm>
          <a:prstGeom prst="ellipse">
            <a:avLst/>
          </a:prstGeom>
          <a:solidFill>
            <a:srgbClr val="D6D3E6"/>
          </a:solidFill>
          <a:ln w="9525">
            <a:solidFill>
              <a:srgbClr val="C7D2D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90872" y="24871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 redirect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148840"/>
            <a:ext cx="1554480" cy="1005840"/>
          </a:xfrm>
          <a:prstGeom prst="ellipse">
            <a:avLst/>
          </a:prstGeom>
          <a:solidFill>
            <a:srgbClr val="D8E2E4"/>
          </a:solidFill>
          <a:ln w="19050">
            <a:solidFill>
              <a:srgbClr val="1E5A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0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7 · v3.17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licence conveys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with the scope &amp; FTO note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buyer briefs — operators · platform/CRM vendors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Hard-Stop and Advisory mode specifications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spec · integration reference · docker-compose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0916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demos incl. the working policy engine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Justification and Pricing Model (NDA)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 — incl. on-chain enforcement, rejected on purpose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 incl. the patent row · legal kit · AS-IS notice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8046720" cy="658368"/>
          </a:xfrm>
          <a:prstGeom prst="roundRect">
            <a:avLst>
              <a:gd name="adj" fmla="val 5556"/>
            </a:avLst>
          </a:prstGeom>
          <a:solidFill>
            <a:srgbClr val="F3F5F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4251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43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00–15 · ONE VERSION STRING · GPG → OpenTimestamps → Bitcoin ANCHORED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8 · v3.17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terms — AS-IS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2743200"/>
          </a:xfrm>
          <a:prstGeom prst="roundRect">
            <a:avLst>
              <a:gd name="adj" fmla="val 1667"/>
            </a:avLst>
          </a:prstGeom>
          <a:solidFill>
            <a:srgbClr val="F7EFEF"/>
          </a:solidFill>
          <a:ln w="15875">
            <a:solidFill>
              <a:srgbClr val="973A3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554480"/>
            <a:ext cx="7406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as-is. No warranties, no guarantees, no pilot data.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implementation services, no integration support, no training, no ongoing involvement of any kind after acquisition.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testing, deployment, and operation are solely the licensee's responsibility.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performance figures are synthetic simulations, declared as such. Reference code and specifications are a guide only.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notice: 09_AS_IS_Notice · Legal path: 08 LOI → 08b licence agreement, scope in Schedule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46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08c · SLIDE 9 · v3.17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the NDA. The full package and the policy engine release on execution.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structure in 06/06b under NDA — never in first contact. FTO recommended before any exclusivity — stated in writing, by us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122B33"/>
          </a:solidFill>
          <a:ln w="12700">
            <a:solidFill>
              <a:srgbClr val="7FB0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3703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8E2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STUDIO   Trench Logic Studio — Miloš Petrović · milos@trench-logic.com · trenchlogicstudio.com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8E2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08c_Master_Pitch_Deck.pptx · REVISION v3.17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9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AS-IS · STRICTLY CONFIDENTIAL · NDA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Trench Logic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VIP SmartContract · Compliance-as-Revenue Layer — Master Pitch Deck</dc:title>
  <dc:subject>VIP SmartContract acquisition package</dc:subject>
  <dc:creator>Trench Logic Studio</dc:creator>
  <cp:lastModifiedBy>Trench Logic Studio</cp:lastModifiedBy>
  <cp:revision>2</cp:revision>
  <dcterms:created xsi:type="dcterms:W3CDTF">2026-06-11T14:15:42Z</dcterms:created>
  <dcterms:modified xsi:type="dcterms:W3CDTF">2026-09-09T21:43:27Z</dcterms:modified>
</cp:coreProperties>
</file>